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alibri (MS) Bold" charset="1" panose="020F0702030404030204"/>
      <p:regular r:id="rId17"/>
    </p:embeddedFont>
    <p:embeddedFont>
      <p:font typeface="Calibri (MS)" charset="1" panose="020F0502020204030204"/>
      <p:regular r:id="rId18"/>
    </p:embeddedFont>
    <p:embeddedFont>
      <p:font typeface="Calibri (MS) Italics" charset="1" panose="020F05020202040A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the project: an AI system that warns about vehicle failure before it happens.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0160" y="2377440"/>
            <a:ext cx="15727680" cy="2743200"/>
            <a:chOff x="0" y="0"/>
            <a:chExt cx="20970240" cy="365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70239" cy="3657600"/>
            </a:xfrm>
            <a:custGeom>
              <a:avLst/>
              <a:gdLst/>
              <a:ahLst/>
              <a:cxnLst/>
              <a:rect r="r" b="b" t="t" l="l"/>
              <a:pathLst>
                <a:path h="365760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14" r="0" b="-6171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20970240" cy="3790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AI/ML-Based Predictive Maintenance and Vehicle Health Monitoring System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0160" y="5486400"/>
            <a:ext cx="15727680" cy="914400"/>
            <a:chOff x="0" y="0"/>
            <a:chExt cx="2097024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9702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142" r="0" b="-28514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097024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CFE3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Predicting vehicle and component failure before it occurs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7795260"/>
            <a:ext cx="15727680" cy="1463040"/>
            <a:chOff x="0" y="0"/>
            <a:chExt cx="20970240" cy="1950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970239" cy="1950720"/>
            </a:xfrm>
            <a:custGeom>
              <a:avLst/>
              <a:gdLst/>
              <a:ahLst/>
              <a:cxnLst/>
              <a:rect r="r" b="b" t="t" l="l"/>
              <a:pathLst>
                <a:path h="19507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64" r="0" b="-15946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097024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 Forest • XGBoost • LSTM • GRU • Transformer • SHAP</a:t>
              </a: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Kuntal Pradhan | Institute of Engineering and Management Kolkata |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and System Architecture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2137410"/>
            <a:ext cx="16459200" cy="280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2161" indent="-38608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Breakdowns cause safety risk, downtime and high cost</a:t>
            </a:r>
          </a:p>
          <a:p>
            <a:pPr algn="l" marL="772161" indent="-38608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Reactive and fixed-interval maintenance are inefficient</a:t>
            </a:r>
          </a:p>
          <a:p>
            <a:pPr algn="l" marL="772161" indent="-38608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Goal: predict failure probability, score health, explain why, and alert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01703" y="6022343"/>
            <a:ext cx="2494283" cy="2037083"/>
            <a:chOff x="0" y="0"/>
            <a:chExt cx="3325711" cy="27161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25622" cy="2716022"/>
            </a:xfrm>
            <a:custGeom>
              <a:avLst/>
              <a:gdLst/>
              <a:ahLst/>
              <a:cxnLst/>
              <a:rect r="r" b="b" t="t" l="l"/>
              <a:pathLst>
                <a:path h="2716022" w="3325622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3128137" y="0"/>
                  </a:lnTo>
                  <a:cubicBezTo>
                    <a:pt x="3237230" y="0"/>
                    <a:pt x="3325622" y="88392"/>
                    <a:pt x="3325622" y="197485"/>
                  </a:cubicBezTo>
                  <a:lnTo>
                    <a:pt x="3325622" y="2518537"/>
                  </a:lnTo>
                  <a:cubicBezTo>
                    <a:pt x="3325622" y="2627630"/>
                    <a:pt x="3237230" y="2716022"/>
                    <a:pt x="3128137" y="2716022"/>
                  </a:cubicBezTo>
                  <a:lnTo>
                    <a:pt x="197485" y="2716022"/>
                  </a:lnTo>
                  <a:cubicBezTo>
                    <a:pt x="88392" y="2716149"/>
                    <a:pt x="0" y="2627630"/>
                    <a:pt x="0" y="2518537"/>
                  </a:cubicBezTo>
                  <a:close/>
                </a:path>
              </a:pathLst>
            </a:custGeom>
            <a:solidFill>
              <a:srgbClr val="1F3A5F"/>
            </a:solidFill>
            <a:ln w="25400" cap="sq">
              <a:solidFill>
                <a:srgbClr val="1F3A5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6035040"/>
            <a:ext cx="2468880" cy="2011680"/>
            <a:chOff x="0" y="0"/>
            <a:chExt cx="3291840" cy="2682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918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543" t="0" r="-5454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29184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Vehicle sensors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44903" y="6022343"/>
            <a:ext cx="2494283" cy="2037083"/>
            <a:chOff x="0" y="0"/>
            <a:chExt cx="3325711" cy="27161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25622" cy="2716022"/>
            </a:xfrm>
            <a:custGeom>
              <a:avLst/>
              <a:gdLst/>
              <a:ahLst/>
              <a:cxnLst/>
              <a:rect r="r" b="b" t="t" l="l"/>
              <a:pathLst>
                <a:path h="2716022" w="3325622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3128137" y="0"/>
                  </a:lnTo>
                  <a:cubicBezTo>
                    <a:pt x="3237230" y="0"/>
                    <a:pt x="3325622" y="88392"/>
                    <a:pt x="3325622" y="197485"/>
                  </a:cubicBezTo>
                  <a:lnTo>
                    <a:pt x="3325622" y="2518537"/>
                  </a:lnTo>
                  <a:cubicBezTo>
                    <a:pt x="3325622" y="2627630"/>
                    <a:pt x="3237230" y="2716022"/>
                    <a:pt x="3128137" y="2716022"/>
                  </a:cubicBezTo>
                  <a:lnTo>
                    <a:pt x="197485" y="2716022"/>
                  </a:lnTo>
                  <a:cubicBezTo>
                    <a:pt x="88392" y="2716149"/>
                    <a:pt x="0" y="2627630"/>
                    <a:pt x="0" y="2518537"/>
                  </a:cubicBezTo>
                  <a:close/>
                </a:path>
              </a:pathLst>
            </a:custGeom>
            <a:solidFill>
              <a:srgbClr val="1F3A5F"/>
            </a:solidFill>
            <a:ln w="25400" cap="sq">
              <a:solidFill>
                <a:srgbClr val="1F3A5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3657600" y="6035040"/>
            <a:ext cx="2468880" cy="2011680"/>
            <a:chOff x="0" y="0"/>
            <a:chExt cx="3291840" cy="26822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918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543" t="0" r="-5454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29184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Preprocessing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388103" y="6022343"/>
            <a:ext cx="2494283" cy="2037083"/>
            <a:chOff x="0" y="0"/>
            <a:chExt cx="3325711" cy="27161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25622" cy="2716022"/>
            </a:xfrm>
            <a:custGeom>
              <a:avLst/>
              <a:gdLst/>
              <a:ahLst/>
              <a:cxnLst/>
              <a:rect r="r" b="b" t="t" l="l"/>
              <a:pathLst>
                <a:path h="2716022" w="3325622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3128137" y="0"/>
                  </a:lnTo>
                  <a:cubicBezTo>
                    <a:pt x="3237230" y="0"/>
                    <a:pt x="3325622" y="88392"/>
                    <a:pt x="3325622" y="197485"/>
                  </a:cubicBezTo>
                  <a:lnTo>
                    <a:pt x="3325622" y="2518537"/>
                  </a:lnTo>
                  <a:cubicBezTo>
                    <a:pt x="3325622" y="2627630"/>
                    <a:pt x="3237230" y="2716022"/>
                    <a:pt x="3128137" y="2716022"/>
                  </a:cubicBezTo>
                  <a:lnTo>
                    <a:pt x="197485" y="2716022"/>
                  </a:lnTo>
                  <a:cubicBezTo>
                    <a:pt x="88392" y="2716149"/>
                    <a:pt x="0" y="2627630"/>
                    <a:pt x="0" y="2518537"/>
                  </a:cubicBezTo>
                  <a:close/>
                </a:path>
              </a:pathLst>
            </a:custGeom>
            <a:solidFill>
              <a:srgbClr val="1F3A5F"/>
            </a:solidFill>
            <a:ln w="25400" cap="sq">
              <a:solidFill>
                <a:srgbClr val="1F3A5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400800" y="6035040"/>
            <a:ext cx="2468880" cy="2011680"/>
            <a:chOff x="0" y="0"/>
            <a:chExt cx="3291840" cy="2682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2918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543" t="0" r="-5454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29184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ML/DL model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31303" y="6022343"/>
            <a:ext cx="2494283" cy="2037083"/>
            <a:chOff x="0" y="0"/>
            <a:chExt cx="3325711" cy="271611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325622" cy="2716022"/>
            </a:xfrm>
            <a:custGeom>
              <a:avLst/>
              <a:gdLst/>
              <a:ahLst/>
              <a:cxnLst/>
              <a:rect r="r" b="b" t="t" l="l"/>
              <a:pathLst>
                <a:path h="2716022" w="3325622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3128137" y="0"/>
                  </a:lnTo>
                  <a:cubicBezTo>
                    <a:pt x="3237230" y="0"/>
                    <a:pt x="3325622" y="88392"/>
                    <a:pt x="3325622" y="197485"/>
                  </a:cubicBezTo>
                  <a:lnTo>
                    <a:pt x="3325622" y="2518537"/>
                  </a:lnTo>
                  <a:cubicBezTo>
                    <a:pt x="3325622" y="2627630"/>
                    <a:pt x="3237230" y="2716022"/>
                    <a:pt x="3128137" y="2716022"/>
                  </a:cubicBezTo>
                  <a:lnTo>
                    <a:pt x="197485" y="2716022"/>
                  </a:lnTo>
                  <a:cubicBezTo>
                    <a:pt x="88392" y="2716149"/>
                    <a:pt x="0" y="2627630"/>
                    <a:pt x="0" y="2518537"/>
                  </a:cubicBezTo>
                  <a:close/>
                </a:path>
              </a:pathLst>
            </a:custGeom>
            <a:solidFill>
              <a:srgbClr val="1F3A5F"/>
            </a:solidFill>
            <a:ln w="25400" cap="sq">
              <a:solidFill>
                <a:srgbClr val="1F3A5F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0" y="6035040"/>
            <a:ext cx="2468880" cy="2011680"/>
            <a:chOff x="0" y="0"/>
            <a:chExt cx="3291840" cy="26822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918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543" t="0" r="-5454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29184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Failure probability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874503" y="6022343"/>
            <a:ext cx="2494283" cy="2037083"/>
            <a:chOff x="0" y="0"/>
            <a:chExt cx="3325711" cy="27161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325622" cy="2716022"/>
            </a:xfrm>
            <a:custGeom>
              <a:avLst/>
              <a:gdLst/>
              <a:ahLst/>
              <a:cxnLst/>
              <a:rect r="r" b="b" t="t" l="l"/>
              <a:pathLst>
                <a:path h="2716022" w="3325622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3128137" y="0"/>
                  </a:lnTo>
                  <a:cubicBezTo>
                    <a:pt x="3237230" y="0"/>
                    <a:pt x="3325622" y="88392"/>
                    <a:pt x="3325622" y="197485"/>
                  </a:cubicBezTo>
                  <a:lnTo>
                    <a:pt x="3325622" y="2518537"/>
                  </a:lnTo>
                  <a:cubicBezTo>
                    <a:pt x="3325622" y="2627630"/>
                    <a:pt x="3237230" y="2716022"/>
                    <a:pt x="3128137" y="2716022"/>
                  </a:cubicBezTo>
                  <a:lnTo>
                    <a:pt x="197485" y="2716022"/>
                  </a:lnTo>
                  <a:cubicBezTo>
                    <a:pt x="88392" y="2716149"/>
                    <a:pt x="0" y="2627630"/>
                    <a:pt x="0" y="2518537"/>
                  </a:cubicBezTo>
                  <a:close/>
                </a:path>
              </a:pathLst>
            </a:custGeom>
            <a:solidFill>
              <a:srgbClr val="1F3A5F"/>
            </a:solidFill>
            <a:ln w="25400" cap="sq">
              <a:solidFill>
                <a:srgbClr val="1F3A5F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1887200" y="6035040"/>
            <a:ext cx="2468880" cy="2011680"/>
            <a:chOff x="0" y="0"/>
            <a:chExt cx="3291840" cy="26822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918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543" t="0" r="-5454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29184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Health score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617703" y="6022343"/>
            <a:ext cx="2494283" cy="2037083"/>
            <a:chOff x="0" y="0"/>
            <a:chExt cx="3325711" cy="271611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25622" cy="2716022"/>
            </a:xfrm>
            <a:custGeom>
              <a:avLst/>
              <a:gdLst/>
              <a:ahLst/>
              <a:cxnLst/>
              <a:rect r="r" b="b" t="t" l="l"/>
              <a:pathLst>
                <a:path h="2716022" w="3325622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3128137" y="0"/>
                  </a:lnTo>
                  <a:cubicBezTo>
                    <a:pt x="3237230" y="0"/>
                    <a:pt x="3325622" y="88392"/>
                    <a:pt x="3325622" y="197485"/>
                  </a:cubicBezTo>
                  <a:lnTo>
                    <a:pt x="3325622" y="2518537"/>
                  </a:lnTo>
                  <a:cubicBezTo>
                    <a:pt x="3325622" y="2627630"/>
                    <a:pt x="3237230" y="2716022"/>
                    <a:pt x="3128137" y="2716022"/>
                  </a:cubicBezTo>
                  <a:lnTo>
                    <a:pt x="197485" y="2716022"/>
                  </a:lnTo>
                  <a:cubicBezTo>
                    <a:pt x="88392" y="2716149"/>
                    <a:pt x="0" y="2627630"/>
                    <a:pt x="0" y="2518537"/>
                  </a:cubicBezTo>
                  <a:close/>
                </a:path>
              </a:pathLst>
            </a:custGeom>
            <a:solidFill>
              <a:srgbClr val="2E8B8B"/>
            </a:solidFill>
            <a:ln w="25400" cap="sq">
              <a:solidFill>
                <a:srgbClr val="2E8B8B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4630400" y="6035040"/>
            <a:ext cx="2468880" cy="2011680"/>
            <a:chOff x="0" y="0"/>
            <a:chExt cx="3291840" cy="26822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2918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543" t="0" r="-5454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329184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Maintenance alert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14400" y="8595360"/>
            <a:ext cx="16459200" cy="914400"/>
            <a:chOff x="0" y="0"/>
            <a:chExt cx="21945600" cy="1219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219456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Inputs: engine temp, RPM, oil pressure, vibration, battery voltage, coolant temp, fuel consumption, speed, operating hours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and Feature Engineering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011680"/>
            <a:ext cx="16459200" cy="4078224"/>
            <a:chOff x="0" y="0"/>
            <a:chExt cx="21945600" cy="5437632"/>
          </a:xfrm>
        </p:grpSpPr>
        <p:sp>
          <p:nvSpPr>
            <p:cNvPr name="Freeform 6" id="6" descr="/mnt/user-data/uploads/1790617900092_image.png"/>
            <p:cNvSpPr/>
            <p:nvPr/>
          </p:nvSpPr>
          <p:spPr>
            <a:xfrm flipH="false" flipV="false" rot="0">
              <a:off x="0" y="0"/>
              <a:ext cx="21945600" cy="5437632"/>
            </a:xfrm>
            <a:custGeom>
              <a:avLst/>
              <a:gdLst/>
              <a:ahLst/>
              <a:cxnLst/>
              <a:rect r="r" b="b" t="t" l="l"/>
              <a:pathLst>
                <a:path h="543763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437632"/>
                  </a:lnTo>
                  <a:lnTo>
                    <a:pt x="0" y="5437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9" t="0" r="-78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6126480"/>
            <a:ext cx="16459200" cy="548640"/>
            <a:chOff x="0" y="0"/>
            <a:chExt cx="219456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55555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Simulated sensors drift before failure (red line = failure window starts)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6936743"/>
            <a:ext cx="5328923" cy="2585723"/>
            <a:chOff x="0" y="0"/>
            <a:chExt cx="7105231" cy="34476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05269" cy="3447669"/>
            </a:xfrm>
            <a:custGeom>
              <a:avLst/>
              <a:gdLst/>
              <a:ahLst/>
              <a:cxnLst/>
              <a:rect r="r" b="b" t="t" l="l"/>
              <a:pathLst>
                <a:path h="3447669" w="7105269">
                  <a:moveTo>
                    <a:pt x="0" y="0"/>
                  </a:moveTo>
                  <a:lnTo>
                    <a:pt x="7105269" y="0"/>
                  </a:lnTo>
                  <a:lnTo>
                    <a:pt x="7105269" y="3447669"/>
                  </a:lnTo>
                  <a:lnTo>
                    <a:pt x="0" y="3447669"/>
                  </a:lnTo>
                  <a:close/>
                </a:path>
              </a:pathLst>
            </a:custGeom>
            <a:solidFill>
              <a:srgbClr val="F4F7FA"/>
            </a:solidFill>
            <a:ln w="25400" cap="sq">
              <a:solidFill>
                <a:srgbClr val="F4F7FA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88720" y="7132320"/>
            <a:ext cx="4754880" cy="731520"/>
            <a:chOff x="0" y="0"/>
            <a:chExt cx="633984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39840" cy="975360"/>
            </a:xfrm>
            <a:custGeom>
              <a:avLst/>
              <a:gdLst/>
              <a:ahLst/>
              <a:cxnLst/>
              <a:rect r="r" b="b" t="t" l="l"/>
              <a:pathLst>
                <a:path h="9753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633984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2E8B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188720" y="7898130"/>
            <a:ext cx="475488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80 vehicles, 27,751 rows; 9.1% failure-soon labels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479543" y="6936743"/>
            <a:ext cx="5328923" cy="2585723"/>
            <a:chOff x="0" y="0"/>
            <a:chExt cx="7105231" cy="34476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05269" cy="3447669"/>
            </a:xfrm>
            <a:custGeom>
              <a:avLst/>
              <a:gdLst/>
              <a:ahLst/>
              <a:cxnLst/>
              <a:rect r="r" b="b" t="t" l="l"/>
              <a:pathLst>
                <a:path h="3447669" w="7105269">
                  <a:moveTo>
                    <a:pt x="0" y="0"/>
                  </a:moveTo>
                  <a:lnTo>
                    <a:pt x="7105269" y="0"/>
                  </a:lnTo>
                  <a:lnTo>
                    <a:pt x="7105269" y="3447669"/>
                  </a:lnTo>
                  <a:lnTo>
                    <a:pt x="0" y="3447669"/>
                  </a:lnTo>
                  <a:close/>
                </a:path>
              </a:pathLst>
            </a:custGeom>
            <a:solidFill>
              <a:srgbClr val="F4F7FA"/>
            </a:solidFill>
            <a:ln w="25400" cap="sq">
              <a:solidFill>
                <a:srgbClr val="F4F7FA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766560" y="7132320"/>
            <a:ext cx="4754880" cy="731520"/>
            <a:chOff x="0" y="0"/>
            <a:chExt cx="6339840" cy="975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39840" cy="975360"/>
            </a:xfrm>
            <a:custGeom>
              <a:avLst/>
              <a:gdLst/>
              <a:ahLst/>
              <a:cxnLst/>
              <a:rect r="r" b="b" t="t" l="l"/>
              <a:pathLst>
                <a:path h="9753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633984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2E8B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Features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766560" y="7898130"/>
            <a:ext cx="475488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33 features: raw + rolling mean, std, trend (window 10)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057383" y="6936743"/>
            <a:ext cx="5328923" cy="2585723"/>
            <a:chOff x="0" y="0"/>
            <a:chExt cx="7105231" cy="344763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05269" cy="3447669"/>
            </a:xfrm>
            <a:custGeom>
              <a:avLst/>
              <a:gdLst/>
              <a:ahLst/>
              <a:cxnLst/>
              <a:rect r="r" b="b" t="t" l="l"/>
              <a:pathLst>
                <a:path h="3447669" w="7105269">
                  <a:moveTo>
                    <a:pt x="0" y="0"/>
                  </a:moveTo>
                  <a:lnTo>
                    <a:pt x="7105269" y="0"/>
                  </a:lnTo>
                  <a:lnTo>
                    <a:pt x="7105269" y="3447669"/>
                  </a:lnTo>
                  <a:lnTo>
                    <a:pt x="0" y="3447669"/>
                  </a:lnTo>
                  <a:close/>
                </a:path>
              </a:pathLst>
            </a:custGeom>
            <a:solidFill>
              <a:srgbClr val="F4F7FA"/>
            </a:solidFill>
            <a:ln w="25400" cap="sq">
              <a:solidFill>
                <a:srgbClr val="F4F7FA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344400" y="7132320"/>
            <a:ext cx="4754880" cy="731520"/>
            <a:chOff x="0" y="0"/>
            <a:chExt cx="6339840" cy="9753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39840" cy="975360"/>
            </a:xfrm>
            <a:custGeom>
              <a:avLst/>
              <a:gdLst/>
              <a:ahLst/>
              <a:cxnLst/>
              <a:rect r="r" b="b" t="t" l="l"/>
              <a:pathLst>
                <a:path h="9753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633984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2E8B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Split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344400" y="7898130"/>
            <a:ext cx="475488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By vehicle: 20,548 train / 7,203 test rows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Models Compared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181863"/>
            <a:ext cx="8072123" cy="3500123"/>
            <a:chOff x="0" y="0"/>
            <a:chExt cx="10762831" cy="46668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62869" cy="4666869"/>
            </a:xfrm>
            <a:custGeom>
              <a:avLst/>
              <a:gdLst/>
              <a:ahLst/>
              <a:cxnLst/>
              <a:rect r="r" b="b" t="t" l="l"/>
              <a:pathLst>
                <a:path h="4666869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4666869"/>
                  </a:lnTo>
                  <a:lnTo>
                    <a:pt x="0" y="4666869"/>
                  </a:lnTo>
                  <a:close/>
                </a:path>
              </a:pathLst>
            </a:custGeom>
            <a:solidFill>
              <a:srgbClr val="F4F7FA"/>
            </a:solidFill>
            <a:ln w="25400" cap="sq">
              <a:solidFill>
                <a:srgbClr val="F4F7FA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188720" y="2377440"/>
            <a:ext cx="7498080" cy="731520"/>
            <a:chOff x="0" y="0"/>
            <a:chExt cx="9997440" cy="975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997440" cy="975360"/>
            </a:xfrm>
            <a:custGeom>
              <a:avLst/>
              <a:gdLst/>
              <a:ahLst/>
              <a:cxnLst/>
              <a:rect r="r" b="b" t="t" l="l"/>
              <a:pathLst>
                <a:path h="9753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721" r="0" b="-14972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999744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2E8B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Machine learning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88720" y="3143250"/>
            <a:ext cx="7498080" cy="234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Logistic Regression, Decision Tree, Random Forest (300 trees), XGBoost (300 trees, imbalance-weighted) on 33 tabular features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314183" y="2181863"/>
            <a:ext cx="8072123" cy="3500123"/>
            <a:chOff x="0" y="0"/>
            <a:chExt cx="10762831" cy="46668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62869" cy="4666869"/>
            </a:xfrm>
            <a:custGeom>
              <a:avLst/>
              <a:gdLst/>
              <a:ahLst/>
              <a:cxnLst/>
              <a:rect r="r" b="b" t="t" l="l"/>
              <a:pathLst>
                <a:path h="4666869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4666869"/>
                  </a:lnTo>
                  <a:lnTo>
                    <a:pt x="0" y="4666869"/>
                  </a:lnTo>
                  <a:close/>
                </a:path>
              </a:pathLst>
            </a:custGeom>
            <a:solidFill>
              <a:srgbClr val="F4F7FA"/>
            </a:solidFill>
            <a:ln w="25400" cap="sq">
              <a:solidFill>
                <a:srgbClr val="F4F7FA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601200" y="2377440"/>
            <a:ext cx="7498080" cy="731520"/>
            <a:chOff x="0" y="0"/>
            <a:chExt cx="9997440" cy="975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997440" cy="975360"/>
            </a:xfrm>
            <a:custGeom>
              <a:avLst/>
              <a:gdLst/>
              <a:ahLst/>
              <a:cxnLst/>
              <a:rect r="r" b="b" t="t" l="l"/>
              <a:pathLst>
                <a:path h="9753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721" r="0" b="-14972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999744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2E8B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Deep learning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601200" y="3143250"/>
            <a:ext cx="7498080" cy="234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LSTM, GRU (2 layers, 64 units) and Transformer (2 attention layers) on 30-step sensor windows; 15 epochs, Adam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01703" y="6022343"/>
            <a:ext cx="16484603" cy="2951483"/>
            <a:chOff x="0" y="0"/>
            <a:chExt cx="21979471" cy="39353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79510" cy="3935349"/>
            </a:xfrm>
            <a:custGeom>
              <a:avLst/>
              <a:gdLst/>
              <a:ahLst/>
              <a:cxnLst/>
              <a:rect r="r" b="b" t="t" l="l"/>
              <a:pathLst>
                <a:path h="3935349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3935349"/>
                  </a:lnTo>
                  <a:lnTo>
                    <a:pt x="0" y="3935349"/>
                  </a:lnTo>
                  <a:close/>
                </a:path>
              </a:pathLst>
            </a:custGeom>
            <a:solidFill>
              <a:srgbClr val="F4F7FA"/>
            </a:solidFill>
            <a:ln w="25400" cap="sq">
              <a:solidFill>
                <a:srgbClr val="F4F7FA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88720" y="6217920"/>
            <a:ext cx="15910560" cy="731520"/>
            <a:chOff x="0" y="0"/>
            <a:chExt cx="21214080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214080" cy="975360"/>
            </a:xfrm>
            <a:custGeom>
              <a:avLst/>
              <a:gdLst/>
              <a:ahLst/>
              <a:cxnLst/>
              <a:rect r="r" b="b" t="t" l="l"/>
              <a:pathLst>
                <a:path h="97536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3799" r="0" b="-37379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212140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2E8B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Explainable AI and health logic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88720" y="6983730"/>
            <a:ext cx="15910560" cy="1794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SHAP on XGBoost lists the top contributing sensors. Health = 50% (1 − failure probability) + 50% sensor health. Status: NORMAL &lt; 35%, WARNING 35–75%, CRITICAL &gt; 75%.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2194560"/>
            <a:ext cx="10241280" cy="3986784"/>
            <a:chOff x="0" y="0"/>
            <a:chExt cx="13655040" cy="5315712"/>
          </a:xfrm>
        </p:grpSpPr>
        <p:sp>
          <p:nvSpPr>
            <p:cNvPr name="Freeform 6" id="6" descr="/mnt/user-data/uploads/1790618001836_image.png"/>
            <p:cNvSpPr/>
            <p:nvPr/>
          </p:nvSpPr>
          <p:spPr>
            <a:xfrm flipH="false" flipV="false" rot="0">
              <a:off x="0" y="0"/>
              <a:ext cx="13655039" cy="5315712"/>
            </a:xfrm>
            <a:custGeom>
              <a:avLst/>
              <a:gdLst/>
              <a:ahLst/>
              <a:cxnLst/>
              <a:rect r="r" b="b" t="t" l="l"/>
              <a:pathLst>
                <a:path h="5315712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5315712"/>
                  </a:lnTo>
                  <a:lnTo>
                    <a:pt x="0" y="5315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8" r="0" b="-38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1338560" y="2127885"/>
            <a:ext cx="6217920" cy="701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All models: about 98–99% accuracy, ROC-AUC near 1.0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XGBoost best overall: precision about 0.93, recall about 0.98, F1 about 0.95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LSTM and GRU: recall about 1.0 (few missed failures) but more false alarms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Synthetic data is easy; real data will score lower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31520" y="6400800"/>
            <a:ext cx="10241280" cy="548640"/>
            <a:chOff x="0" y="0"/>
            <a:chExt cx="1365504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655039" cy="731520"/>
            </a:xfrm>
            <a:custGeom>
              <a:avLst/>
              <a:gdLst/>
              <a:ahLst/>
              <a:cxnLst/>
              <a:rect r="r" b="b" t="t" l="l"/>
              <a:pathLst>
                <a:path h="731520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3655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55555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Values approximate, read from the comparison chart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Explainable AI (SHAP)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011680"/>
            <a:ext cx="7534656" cy="7132320"/>
            <a:chOff x="0" y="0"/>
            <a:chExt cx="10046208" cy="9509760"/>
          </a:xfrm>
        </p:grpSpPr>
        <p:sp>
          <p:nvSpPr>
            <p:cNvPr name="Freeform 6" id="6" descr="/mnt/user-data/uploads/1790618181206_download.png"/>
            <p:cNvSpPr/>
            <p:nvPr/>
          </p:nvSpPr>
          <p:spPr>
            <a:xfrm flipH="false" flipV="false" rot="0">
              <a:off x="0" y="0"/>
              <a:ext cx="10046208" cy="9509760"/>
            </a:xfrm>
            <a:custGeom>
              <a:avLst/>
              <a:gdLst/>
              <a:ahLst/>
              <a:cxnLst/>
              <a:rect r="r" b="b" t="t" l="l"/>
              <a:pathLst>
                <a:path h="9509760" w="10046208">
                  <a:moveTo>
                    <a:pt x="0" y="0"/>
                  </a:moveTo>
                  <a:lnTo>
                    <a:pt x="10046208" y="0"/>
                  </a:lnTo>
                  <a:lnTo>
                    <a:pt x="10046208" y="9509760"/>
                  </a:lnTo>
                  <a:lnTo>
                    <a:pt x="0" y="9509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6" t="0" r="-16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144000" y="2310765"/>
            <a:ext cx="8229600" cy="646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Top drivers: vibration, battery voltage, engine temperature, oil pressure</a:t>
            </a:r>
          </a:p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High vibration, high temperature, low voltage and low oil pressure raise failure risk</a:t>
            </a:r>
          </a:p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Matches engineering intuition, so alerts are trustworthy</a:t>
            </a:r>
          </a:p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Top-3 factors are shown in every alert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Vehicle Health Timeline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2194560"/>
            <a:ext cx="10789920" cy="4992624"/>
            <a:chOff x="0" y="0"/>
            <a:chExt cx="14386560" cy="6656832"/>
          </a:xfrm>
        </p:grpSpPr>
        <p:sp>
          <p:nvSpPr>
            <p:cNvPr name="Freeform 6" id="6" descr="/home/claude/w/timeline.png"/>
            <p:cNvSpPr/>
            <p:nvPr/>
          </p:nvSpPr>
          <p:spPr>
            <a:xfrm flipH="false" flipV="false" rot="0">
              <a:off x="0" y="0"/>
              <a:ext cx="14386561" cy="6656832"/>
            </a:xfrm>
            <a:custGeom>
              <a:avLst/>
              <a:gdLst/>
              <a:ahLst/>
              <a:cxnLst/>
              <a:rect r="r" b="b" t="t" l="l"/>
              <a:pathLst>
                <a:path h="6656832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6656832"/>
                  </a:lnTo>
                  <a:lnTo>
                    <a:pt x="0" y="6656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3" t="0" r="-33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1887200" y="2137410"/>
            <a:ext cx="5669280" cy="7189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Steps 0–305: probability near 0%, health near 100%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From step ~305: risk rises; crosses 35% WARNING near step 309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By step 320: near 100% failure probability; actual failure at step 361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Warning arrives about 50 steps early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Fluctuation at 305–320: use smoothing or consecutive-step rule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31520" y="7315200"/>
            <a:ext cx="10789920" cy="548640"/>
            <a:chOff x="0" y="0"/>
            <a:chExt cx="1438656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55555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Plotted health = 100 − failure probability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Health Monitoring Demo and Conclusion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011680"/>
            <a:ext cx="6766560" cy="6035040"/>
            <a:chOff x="0" y="0"/>
            <a:chExt cx="9022080" cy="8046720"/>
          </a:xfrm>
        </p:grpSpPr>
        <p:sp>
          <p:nvSpPr>
            <p:cNvPr name="Freeform 6" id="6" descr="/mnt/user-data/uploads/1790618202076_image.png"/>
            <p:cNvSpPr/>
            <p:nvPr/>
          </p:nvSpPr>
          <p:spPr>
            <a:xfrm flipH="false" flipV="false" rot="0">
              <a:off x="0" y="0"/>
              <a:ext cx="9022080" cy="8046720"/>
            </a:xfrm>
            <a:custGeom>
              <a:avLst/>
              <a:gdLst/>
              <a:ahLst/>
              <a:cxnLst/>
              <a:rect r="r" b="b" t="t" l="l"/>
              <a:pathLst>
                <a:path h="80467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046720"/>
                  </a:lnTo>
                  <a:lnTo>
                    <a:pt x="0" y="8046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0" t="0" r="-10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229600" y="2127885"/>
            <a:ext cx="9144000" cy="445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Early life: Health 100%, Failure 0%, NORMAL</a:t>
            </a:r>
          </a:p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45 steps before failure: Health 58%, factors already flagged</a:t>
            </a:r>
          </a:p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Near failure: Health 0%</a:t>
            </a:r>
          </a:p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Next: real fleet data, Remaining Useful Life, live dashboard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29600" y="6882765"/>
            <a:ext cx="9144000" cy="226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Conclusion: an explainable pipeline from sensors to health score and maintenance alert. XGBoost is the best overall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DAHWgnQmcVQ</dc:identifier>
  <dcterms:modified xsi:type="dcterms:W3CDTF">2011-08-01T06:04:30Z</dcterms:modified>
  <cp:revision>1</cp:revision>
  <dc:title>Project_Presentation.pptx</dc:title>
</cp:coreProperties>
</file>